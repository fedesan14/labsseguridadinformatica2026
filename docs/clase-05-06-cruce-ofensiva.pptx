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bisagra. Venimos de 3 semanas de parate y el curso está atrasado (entregas en lab 01-03). Hoy: reencuadrar, diagnosticar y arrancar ofensiva CON red. No corremos.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 con el curso: no venimos al día. No pasa nada, pero lo nombramos. El bloque 2 exige la base del bloque 1; por eso primero el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progresión es deliberada: manual (05-08) antes que agentes (09). No podés dirigir un agente que hace lo que vos no sabés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 justifica por qué pudimos empezar por los fundamentos: son las dos caras de lo mismo. Ahora miramos del lado rojo.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Correr EN CLASE. 20 min. Si predomina ENTORNO, la clase se vuelve taller de Docker, sin culpa. Bloque B se contesta operando el lab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Martillar el bucle. El error del principiante: gritar 'encontré algo' cuando encontró puertos. El hallazgo aparece al clasificar.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recomendada: nmap -p- phantomcorp, luego curl -I, luego /robots.txt. Mostrar cómo el header Server y el robots regalan 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robots.txt, que le pedís a Google que NO indexe, es un mapa de rutas sensibles para el atacante. La ironía más vieja del libro.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los grupos LISTO: que no aflojen. Estos ejercicios son el puente real recon/enum → explotación.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pasar rápido por esta diapo. Es la frontera ética y legal del curso. El target es nuestro; el mundo,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Alcanzable a propósito: el curso viene atrasado. Mejor que recuperen ritmo con algo que pueden cerrar, que mandarlos a lab 07 y que se frustren.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energía. Repasar la pedida. Recordar: hoy diagnosticamos, arrancamos recon+enum, y la próxima quiero el lab 05 cerrado.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8229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CYBERLAB UTN FRVM · SEGURIDAD OFENSIVA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a ofensiva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66928" y="31089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05-06</a:t>
            </a:r>
            <a:pPr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Reconocimiento + Enumeración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termina de escribir código. Empieza a atacar.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5669280" cy="1078992"/>
          </a:xfrm>
          <a:prstGeom prst="roundRect">
            <a:avLst>
              <a:gd name="adj" fmla="val 6780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480560"/>
            <a:ext cx="5669280" cy="310896"/>
          </a:xfrm>
          <a:prstGeom prst="rect">
            <a:avLst/>
          </a:prstGeom>
          <a:solidFill>
            <a:srgbClr val="0D141B"/>
          </a:solidFill>
          <a:ln w="6350">
            <a:solidFill>
              <a:srgbClr val="2130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4590288"/>
            <a:ext cx="100584" cy="100584"/>
          </a:xfrm>
          <a:prstGeom prst="ellipse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590288"/>
            <a:ext cx="100584" cy="10058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4590288"/>
            <a:ext cx="100584" cy="100584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82896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./ctf lab 05   # levanta PhantomCorp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5138928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shell     # consola del atacante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Ing. Fernando Boiero  ·  UTN FRVM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REENCUADRE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semanas después: ¿dónde estamos?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300320" cy="3566160"/>
          </a:xfrm>
          <a:prstGeom prst="roundRect">
            <a:avLst>
              <a:gd name="adj" fmla="val 2308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4884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YA HICIMOS — BLOQUE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5603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Tríada CIA + integridad (hashing)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31272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Criptografía (XOR, HMAC, Kerckhoffs)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69417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Autenticación (PBKDF2, salt, TOTP)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426110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Riesgo y marcos (ALE, ISO/NIST)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493776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Escribiste código. Entendiste QUÉ se protege.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4448" y="1920240"/>
            <a:ext cx="5300320" cy="3566160"/>
          </a:xfrm>
          <a:prstGeom prst="roundRect">
            <a:avLst>
              <a:gd name="adj" fmla="val 2308"/>
            </a:avLst>
          </a:prstGeom>
          <a:solidFill>
            <a:srgbClr val="14110D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8768" y="214884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EMPIEZA HOY — BLOQUE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8768" y="25603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Reconocimiento  ← hoy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98768" y="31272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Enumeración      ← hoy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8768" y="369417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Explotación (SQLi, RCE…)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98768" y="426110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Post-explotación (pivoting)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8768" y="493776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Dejás de escribir. Empezás a ROMPER.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material llega al lab 11. El curso real está en 01-03. Hoy consolidamos y arrancamos — sin correr.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MAPA COMPLETO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arco: de entender a romper, defender e investigar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· FUNDAMENTOS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01 02 03 04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Código. Qué protegés.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9968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1136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· OFENSIVA A MANO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01136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05 06 07 08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1136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 Atacás a mano.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1136" y="457200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ACÁ ESTAMOS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3008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4176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· AGENTES + DEFENSA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4176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4176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dirigida. Blue vs Red.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66047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7215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 · INTEGRACIÓN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67215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+ Final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67215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Forensia. Engagement.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solo hilo: la auditoría de PhantomCorp S.A. atraviesa todo el bloque ofensivo.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CAMBIO DE CHIP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información, dos preguntas opuestas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00320" cy="3291840"/>
          </a:xfrm>
          <a:prstGeom prst="roundRect">
            <a:avLst>
              <a:gd name="adj" fmla="val 2500"/>
            </a:avLst>
          </a:prstGeom>
          <a:solidFill>
            <a:srgbClr val="111A22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4028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HASTA AHORA · EL DEFENSOR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tengo que proteger?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29184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propiedad (C-I-A) está en juego?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84048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¿Cómo lo guardo bien?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389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control pongo?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4448" y="2011680"/>
            <a:ext cx="5300320" cy="3291840"/>
          </a:xfrm>
          <a:prstGeom prst="roundRect">
            <a:avLst>
              <a:gd name="adj" fmla="val 2500"/>
            </a:avLst>
          </a:prstGeom>
          <a:solidFill>
            <a:srgbClr val="14110D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8768" y="224028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DESDE HOY · EL ATACANTE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98768" y="274320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tiene expuesto?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98768" y="329184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versión corre y qué CVE tiene?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98768" y="384048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¿Dónde se configuró mal?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8768" y="4389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¿Por dónde entro?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55778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pentester piensa como defensor. El mejor defensor piensa como atacante. Es el MISMO conocimiento, dado vuelta.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PRIMERO, EL ESPEJO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minutos: ¿dónde estás parado?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tirar el primer nmap: un diagnóstico corto y autocorregible. No es nota — es para que sepas si estás listo, o si te falta base.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5852160" cy="1591056"/>
          </a:xfrm>
          <a:prstGeom prst="roundRect">
            <a:avLst>
              <a:gd name="adj" fmla="val 4598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651760"/>
            <a:ext cx="5852160" cy="310896"/>
          </a:xfrm>
          <a:prstGeom prst="rect">
            <a:avLst/>
          </a:prstGeom>
          <a:solidFill>
            <a:srgbClr val="0D141B"/>
          </a:solidFill>
          <a:ln w="6350">
            <a:solidFill>
              <a:srgbClr val="2130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761488"/>
            <a:ext cx="100584" cy="100584"/>
          </a:xfrm>
          <a:prstGeom prst="ellipse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61488"/>
            <a:ext cx="100584" cy="10058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761488"/>
            <a:ext cx="100584" cy="100584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54096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docs/diagnostico-respuestas.txt mi.txt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310128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bin/diagnostico.py mi.txt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Fundamentos: 8/8   Ofensiva-ready: 3/3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82219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estado=LISTO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84848" y="2651760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22008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2651760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entorno ok → a romper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84848" y="3310128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3310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93608" y="3310128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huecos → repaso puntual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84848" y="3968496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39684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93608" y="3968496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&lt;50% base → volvé a 01-04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84848" y="4626864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46268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ENTORNO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93608" y="4626864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Docker → taller de setup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Pegás la línea RESULTADO en tu entrega. El docente levanta el semáforo del aula y ajusta la clase.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05 · RECONOCIMIENTO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Recon: mirar antes de tocar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ladrón mira la casa una semana antes de entrar: qué puertas hay, cuáles cierran mal, cuándo no hay nadie. Eso es recon. Y es el 80% del trabajo.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4416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9260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4728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2452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29260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2764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0488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0" y="29260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20800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98524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4389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puerto abierto NO es un hallazgo. </a:t>
            </a:r>
            <a:pPr indent="0" marL="0"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puerto identificado y clasificado — “el 21 corre ProFTPD 1.3.5, CVE-2015-3306” — ESO es un hallazgo.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Pasivo (no hace ruido) primero; activo (nmap) después. El que escanea a lo bruto ya se anunció.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05 · EL ARSENAL Y EL OBJETIVO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PhantomCorp: 4 servicios, 5 flags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920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35808" y="19202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puertos y versiones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487168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4871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ncat / nc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35808" y="24871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grabbing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0540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3054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HTTP y robots.txt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621024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621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whois / dig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35808" y="36210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pasivo de dominios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93408" y="1828800"/>
            <a:ext cx="4931359" cy="3017520"/>
          </a:xfrm>
          <a:prstGeom prst="roundRect">
            <a:avLst>
              <a:gd name="adj" fmla="val 2727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2011680"/>
            <a:ext cx="4565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SUPERFICIE DE PHANTOMCORP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76288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07808" y="251460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— banner ProFTPD (clasificar vs CVE)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07808" y="306324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headers que filtran + robots.txt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07808" y="361188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'dev' olvidado en producción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31337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07808" y="416052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en puerto alto 'eleet'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480560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1A1710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805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FLAG{...} × 5  — se descubren operando, no leyendo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 publican puertos al host: se escanea desde la consola por la red interna de Docker.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06 · ENUMERACIÓN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mapa al detalle: sacarle TODO a cada servicio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recon te dijo 'hay un servidor web'. ¿Y ahora? Un web server no es una cosa: son decenas de rutas, archivos y métodos que NO están en el index. Enumerar es preguntar por lo oculto.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/backup que nadie linkeó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24216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E064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1376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 expuesto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61376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fuente completo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81504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8664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HTTP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8664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habilitado = subir shell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38792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B19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5952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19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usuarios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75952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users y roles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96079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3239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33239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PhantomCMS 3.7 exacto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2120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'hay un web server' y 'hay un web server con /backup, .git filtrado, API de usuarios y PUT habilitado'. Lo segundo es un PLAN DE ATAQUE.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dirb / gobuster · whatweb · nmap NSE · curl. 5 flags, cada una una técnica distinta.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EJERCICIOS NUEVOS DE LA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no se capturan. Se razonan.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una flag demuestra que PUDISTE. Clasificar lo que encontraste demuestra que ENTENDISTE. Casi sin flags: acá se paga criterio.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67004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E05 · Recon pasivo primero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" y="298094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inferir sin escanear + el comentario olvidado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56032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267004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E05 · El puerto que cuenta una historia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53048" y="298094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31337: por qué desconfiar, qué CIA amenaza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52044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63016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E05 · Mapa con PRIORIDAD, no lista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" y="394106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× impacto → a quién pegar primero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4448" y="352044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48" y="363016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E06 · Del .git a la intención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53048" y="394106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más pedirías y qué revela cada archivo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48056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59028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E06 · PUT = webshell (en teoría)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5528" y="490118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método→RCE, sin ejecutarla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4448" y="448056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3048" y="459028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E06 · La API que habla de más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53048" y="490118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ataque priorizado para el lab 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docs/EJERCICIOS-CLASE-05-06.md · se corrige criterio, no cantidad. 3 líneas bien fundadas &gt; media carilla de relleno.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0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REGLA QUE NO SE NEGOCIA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un delito fuera del laboratorio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pPr indent="0" marL="0">
              <a:buNone/>
            </a:pPr>
            <a:r>
              <a:rPr lang="en-US" sz="18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practica EXCLUSIVAMENTE contra los contenedores de la cátedra, en tu máquina.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9260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Estas técnicas contra sistemas de terceros son delito en Argentina — Ley 26.388.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34930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Nada afuera del alcance. Ni 'para probar'. Ni un ping a un dominio ajeno.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405993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Operar fuera del alcance = causal de rechazo automático del lab.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62686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 pentester profesional trabaja con autorización escrita. Siempre.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 CONTRIBUTING.md § Uso responsable. El CI de PRs valida reglas de entrega automáticamente.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ENTREGAN DE ESTA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pedida — concreta y alcanzable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93976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939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12848" y="1965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61488" y="1965960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RESULTADO del diagnóstico, pegada en el PR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715768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843784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43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12848" y="271576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61488" y="2715768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 completo: 5 flags + mapa de superficie (la nota)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3465576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93592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93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12848" y="346557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61488" y="3465576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 arrancado: al menos R1 (directorios) y R2 (.git)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215384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3434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B19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12848" y="421538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61488" y="4215384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ejercicio nuevo de EJERCICIOS-CLASE-05-06.md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66928" y="4965192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93208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E064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093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12848" y="49651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61488" y="4965192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labs 01-03 primero. El diagnóstico te dice qué tema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flags enganchan; el informe es lo que evalúa la rúbrica. Entrega por fork + PR, grupos de 4-5.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188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TRABAJAR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romper PhantomCorp.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método. Con criterio. Y sabiendo por qué funciona cada cosa.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3657600"/>
            <a:ext cx="6583680" cy="1591056"/>
          </a:xfrm>
          <a:prstGeom prst="roundRect">
            <a:avLst>
              <a:gd name="adj" fmla="val 4598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3657600"/>
            <a:ext cx="6583680" cy="310896"/>
          </a:xfrm>
          <a:prstGeom prst="rect">
            <a:avLst/>
          </a:prstGeom>
          <a:solidFill>
            <a:srgbClr val="0D141B"/>
          </a:solidFill>
          <a:ln w="6350">
            <a:solidFill>
              <a:srgbClr val="2130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767328"/>
            <a:ext cx="100584" cy="100584"/>
          </a:xfrm>
          <a:prstGeom prst="ellipse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67328"/>
            <a:ext cx="100584" cy="10058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3767328"/>
            <a:ext cx="100584" cy="100584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59936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./ctf lab 05 &amp;&amp; make shell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15968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-p- phantomcorp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http://phantomcorp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828032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80% del trabajo es mirar bien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github.com/fboiero/LabsSeguridadInformatica2026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Dudas: un Issue en el repo. Es público y la respuesta le sirve a todo el curso.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CyberLab UTN FRVM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05-06 — Cruce a ofensiva</dc:title>
  <dc:subject>PptxGenJS Presentation</dc:subject>
  <dc:creator>Ing. Fernando Boiero</dc:creator>
  <cp:lastModifiedBy>Ing. Fernando Boiero</cp:lastModifiedBy>
  <cp:revision>1</cp:revision>
  <dcterms:created xsi:type="dcterms:W3CDTF">2026-10-09T14:21:52Z</dcterms:created>
  <dcterms:modified xsi:type="dcterms:W3CDTF">2026-10-09T14:21:52Z</dcterms:modified>
</cp:coreProperties>
</file>